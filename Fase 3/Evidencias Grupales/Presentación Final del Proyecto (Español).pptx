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2preX9TQhx+giiLg1its6af0R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Objetivos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Escribir el Objetivo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Listar objetivos específicos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268c708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aa268c7084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/>
              <a:t>Objetivos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Escribir el Objetivo general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Listar objetivos específicos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aa268c7084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Esta ppt puede ser opcional propongo que lo digan junto con sus objetivos en pro del tiempo </a:t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Componentes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Es decir, el resumen de aspectos relevantes 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Esto implica “LISTAR”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Arquitectura, Componentes, Estimaciones de Costo, estudios y otros usado en el estudio, pLanificación y diseño del proyecto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a268c708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a268c7084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aa268c708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Describir la o las herramientas de planificación utilizada y su relación con el proyecto.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Una diapositiva.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200"/>
              <a:buFont typeface="Arial"/>
              <a:buNone/>
            </a:pPr>
            <a:r>
              <a:rPr lang="es-CL" sz="1200">
                <a:solidFill>
                  <a:srgbClr val="747474"/>
                </a:solidFill>
              </a:rPr>
              <a:t>Utilizar cronograma de inicio, indicando el cumplimiento al término del proyecto </a:t>
            </a:r>
            <a:endParaRPr sz="800">
              <a:solidFill>
                <a:srgbClr val="74747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a268c7084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a268c708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primer lugar debes considerar que tal como se mencionó anteriormente, la reflexión nos ayuda a ir consolidando nuestras competencias por cuanto somos capaces de situarnos en distintos escenario. En este sentido, se recomienda iniciar la práctica reflexiva con preguntas que te lleven a la comprensión de lo que realizaste y a la relación con otros componentes del centro de práctica en el que te desempeñas, preguntas tales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como: 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¿Entendí las partes de la tarea que me encargaron y cómo se conectaban?,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¿entiendo la importancia de esta tarea en el contexto de la empresa?, 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¿De qué manera esta actividad se relaciona con otras actividades? 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Luego se puede pasar a preguntas más complejas que refieren al análisis y evaluación de lo que se está realizando, con preguntas como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¿Fueron eficaces las estrategias, habilidades o procedimientos que usé para desarrollar la actividad?  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estoy aprendiendo o. aprendí ?  ¿Por qué es importante?</a:t>
            </a:r>
            <a:endParaRPr/>
          </a:p>
          <a:p>
            <a:pPr indent="0" lvl="0" marL="1587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Finalmente, es importante reflexionar sobre cómo podría mejorar el desempeño, cómo esto aporta a mi perfil profesional, entre otras. Además de analizar cuáles son los espacios de mejora del centro de práctica y cómo desde su rol como especialista puede aportar.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Opcionales a tu presentación </a:t>
            </a:r>
            <a:endParaRPr/>
          </a:p>
        </p:txBody>
      </p:sp>
      <p:sp>
        <p:nvSpPr>
          <p:cNvPr id="270" name="Google Shape;27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Nombre de estudiante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Cargo</a:t>
            </a:r>
            <a:endParaRPr/>
          </a:p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Funciones desempeñadas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3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5" name="Google Shape;15;p2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25589"/>
            <a:ext cx="1923566" cy="7404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16" name="Google Shape;1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33617" y="125589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2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4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hyperlink" Target="http://drive.google.com/file/d/1oEy3cdfQCJyGBT6rTkKhsTdKz8nB2EQ8/view" TargetMode="External"/><Relationship Id="rId5" Type="http://schemas.openxmlformats.org/officeDocument/2006/relationships/image" Target="../media/image19.jpg"/><Relationship Id="rId6" Type="http://schemas.openxmlformats.org/officeDocument/2006/relationships/hyperlink" Target="http://drive.google.com/file/d/1TSwn5OQz335HUvJXZPdqHs3ONmUYLjTf/view" TargetMode="External"/><Relationship Id="rId7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1" y="14758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Cuida Tu Barrio</a:t>
            </a: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112377" y="2691923"/>
            <a:ext cx="5967300" cy="41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b="1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Fabián Alcántara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alumnos</a:t>
            </a:r>
            <a:endParaRPr b="1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Rolando García Pacheco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Matías Ramírez Belmar</a:t>
            </a:r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Gustavo Tobar Diaz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Sede San Bernardo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 rot="-5400000">
            <a:off x="6154970" y="671069"/>
            <a:ext cx="151882" cy="12192001"/>
          </a:xfrm>
          <a:custGeom>
            <a:rect b="b" l="l" r="r" t="t"/>
            <a:pathLst>
              <a:path extrusionOk="0" h="5624919" w="587437">
                <a:moveTo>
                  <a:pt x="0" y="0"/>
                </a:moveTo>
                <a:lnTo>
                  <a:pt x="587437" y="0"/>
                </a:lnTo>
                <a:lnTo>
                  <a:pt x="587437" y="5624919"/>
                </a:lnTo>
                <a:lnTo>
                  <a:pt x="0" y="5624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1584" l="-1943447" r="-23081924" t="-34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/>
        </p:nvSpPr>
        <p:spPr>
          <a:xfrm>
            <a:off x="6881198" y="1916938"/>
            <a:ext cx="50928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0000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rPr lang="es-CL" sz="2200">
                <a:solidFill>
                  <a:srgbClr val="002060"/>
                </a:solidFill>
              </a:rPr>
              <a:t>San Bernardo es de las comunas con mayores índices de delitos de mayor connotación en Chile, según el INE.</a:t>
            </a:r>
            <a:r>
              <a:rPr b="0" i="0" lang="es-CL" sz="22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200">
                <a:solidFill>
                  <a:srgbClr val="002060"/>
                </a:solidFill>
              </a:rPr>
              <a:t>Proponemos un nuevo sistema para denuncia de incidencias </a:t>
            </a:r>
            <a:r>
              <a:rPr lang="es-CL" sz="2200">
                <a:solidFill>
                  <a:srgbClr val="002060"/>
                </a:solidFill>
              </a:rPr>
              <a:t>delictivas</a:t>
            </a:r>
            <a:r>
              <a:rPr lang="es-CL" sz="2200">
                <a:solidFill>
                  <a:srgbClr val="002060"/>
                </a:solidFill>
              </a:rPr>
              <a:t> para los vecinos de la comuna.</a:t>
            </a:r>
            <a:endParaRPr/>
          </a:p>
          <a:p>
            <a:pPr indent="-1651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3075"/>
              </a:buClr>
              <a:buSzPts val="2800"/>
              <a:buFont typeface="Franklin Gothic"/>
              <a:buNone/>
            </a:pPr>
            <a:r>
              <a:t/>
            </a:r>
            <a:endParaRPr b="0" i="0" sz="22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0" y="67487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475" y="1916950"/>
            <a:ext cx="5979301" cy="338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103" name="Google Shape;103;p2" title="Logo San Bernardo (escudo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7950" y="4752200"/>
            <a:ext cx="3878974" cy="112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-434436" y="170474"/>
            <a:ext cx="1219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304700">
            <a:spAutoFit/>
          </a:bodyPr>
          <a:lstStyle/>
          <a:p>
            <a:pPr indent="45085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0" i="0" lang="es-CL" sz="4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Definición del contexto</a:t>
            </a:r>
            <a:endParaRPr sz="1200"/>
          </a:p>
        </p:txBody>
      </p:sp>
      <p:sp>
        <p:nvSpPr>
          <p:cNvPr id="109" name="Google Shape;109;p3"/>
          <p:cNvSpPr txBox="1"/>
          <p:nvPr>
            <p:ph idx="4294967295" type="body"/>
          </p:nvPr>
        </p:nvSpPr>
        <p:spPr>
          <a:xfrm>
            <a:off x="6154200" y="1988325"/>
            <a:ext cx="6037800" cy="46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03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00"/>
              <a:buChar char="•"/>
            </a:pPr>
            <a:r>
              <a:rPr lang="es-CL" sz="2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Necesidad de mejorar la gestión en cuanto a la seguridad ciudadana.</a:t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00"/>
              <a:buFont typeface="Arial"/>
              <a:buChar char="•"/>
            </a:pPr>
            <a:r>
              <a:rPr lang="es-CL" sz="2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Múltiples canales y duplicidad de denuncias.</a:t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03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900"/>
              <a:buFont typeface="Arial"/>
              <a:buChar char="•"/>
            </a:pPr>
            <a:r>
              <a:rPr lang="es-CL" sz="29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Sensación de mala gestión municipal.</a:t>
            </a:r>
            <a:endParaRPr sz="29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1825" y="3967203"/>
            <a:ext cx="3854400" cy="28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 txBox="1"/>
          <p:nvPr>
            <p:ph idx="4294967295" type="ftr"/>
          </p:nvPr>
        </p:nvSpPr>
        <p:spPr>
          <a:xfrm>
            <a:off x="377237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112" name="Google Shape;112;p3" title="marketing-6063325_1920-removebg-preview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82300" y="1186275"/>
            <a:ext cx="3229200" cy="28908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 txBox="1"/>
          <p:nvPr/>
        </p:nvSpPr>
        <p:spPr>
          <a:xfrm>
            <a:off x="85950" y="1091904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86840" y="2641359"/>
            <a:ext cx="10962900" cy="1575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unificado para denuncias ciudadanas tanto para los vecinos como para los funcionarios municipales.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122" name="Google Shape;122;p4" title="Logo San Bernardo (escudo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675" y="4552025"/>
            <a:ext cx="6892949" cy="20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8" name="Google Shape;128;g3aa268c7084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aa268c7084_0_56"/>
          <p:cNvSpPr txBox="1"/>
          <p:nvPr/>
        </p:nvSpPr>
        <p:spPr>
          <a:xfrm>
            <a:off x="1" y="122667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aa268c7084_0_56"/>
          <p:cNvSpPr/>
          <p:nvPr/>
        </p:nvSpPr>
        <p:spPr>
          <a:xfrm>
            <a:off x="718075" y="1873175"/>
            <a:ext cx="10974000" cy="466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tegrar con Google Maps para la geolocalización.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una interfaz amigable para todos los rangos etarios.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comunicación en tiempo real de los usuarios.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manual de usuario amigable.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a la comunidad en la denuncia de delitos. 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12750" lvl="0" marL="457200" rtl="0" algn="just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/>
              <a:buChar char="●"/>
            </a:pPr>
            <a:r>
              <a:rPr lang="es-CL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Habilitar un hub de datos para alimentar el dashboard resumen.</a:t>
            </a:r>
            <a:endParaRPr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a268c7084_0_56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0" y="755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del proyecto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2975" y="2615674"/>
            <a:ext cx="3141400" cy="2655844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969" y="2667253"/>
            <a:ext cx="3555032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1047950" y="814801"/>
            <a:ext cx="9122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250" y="2123750"/>
            <a:ext cx="3950875" cy="3340200"/>
          </a:xfrm>
          <a:prstGeom prst="rect">
            <a:avLst/>
          </a:prstGeom>
          <a:noFill/>
          <a:ln cap="flat" cmpd="sng" w="359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47668" y="2188619"/>
            <a:ext cx="4471091" cy="321047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/>
          <p:nvPr/>
        </p:nvSpPr>
        <p:spPr>
          <a:xfrm>
            <a:off x="4994864" y="3243369"/>
            <a:ext cx="2202300" cy="110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2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5000" lIns="115000" spcFirstLastPara="1" rIns="115000" wrap="square" tIns="115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6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/>
        </p:nvSpPr>
        <p:spPr>
          <a:xfrm>
            <a:off x="670438" y="1007564"/>
            <a:ext cx="10678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y equipo del proyecto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1380702" y="2735281"/>
            <a:ext cx="616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60" name="Google Shape;160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1151" y="2222850"/>
            <a:ext cx="7889700" cy="430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a268c7084_0_13"/>
          <p:cNvSpPr txBox="1"/>
          <p:nvPr>
            <p:ph type="ctrTitle"/>
          </p:nvPr>
        </p:nvSpPr>
        <p:spPr>
          <a:xfrm>
            <a:off x="1432800" y="1560094"/>
            <a:ext cx="9144000" cy="1167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/>
              <a:t>Metodología y equipo del proyecto</a:t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-CL" sz="3600"/>
              <a:t>Roles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aa268c7084_0_13"/>
          <p:cNvSpPr txBox="1"/>
          <p:nvPr>
            <p:ph type="ctrTitle"/>
          </p:nvPr>
        </p:nvSpPr>
        <p:spPr>
          <a:xfrm>
            <a:off x="1524000" y="2179253"/>
            <a:ext cx="9144000" cy="447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-4343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CL" sz="3600"/>
              <a:t>Product Owner: Fernanda Seguel, Representante dirección municipal de seguridad.</a:t>
            </a:r>
            <a:endParaRPr sz="3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4343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CL" sz="3600"/>
              <a:t>Scrum master: Gustavo Tobar</a:t>
            </a:r>
            <a:endParaRPr sz="3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4343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CL" sz="3600"/>
              <a:t>Equipo desarrollo: Rolando García, Arquitectura y </a:t>
            </a:r>
            <a:r>
              <a:rPr lang="es-CL" sz="3600"/>
              <a:t>Back-end.</a:t>
            </a:r>
            <a:endParaRPr sz="3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-4343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CL" sz="3600"/>
              <a:t>Matías Ramírez</a:t>
            </a:r>
            <a:r>
              <a:rPr lang="es-CL" sz="3600"/>
              <a:t>, Diseño y Front-end.</a:t>
            </a:r>
            <a:endParaRPr sz="3600"/>
          </a:p>
        </p:txBody>
      </p:sp>
      <p:sp>
        <p:nvSpPr>
          <p:cNvPr id="169" name="Google Shape;169;g3aa268c7084_0_13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1" y="1119181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o Cronograma del proyecto o Sprints</a:t>
            </a:r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4654100" y="2207437"/>
            <a:ext cx="6120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ágil, Scrum en 3 sprints:</a:t>
            </a:r>
            <a:endParaRPr/>
          </a:p>
        </p:txBody>
      </p:sp>
      <p:sp>
        <p:nvSpPr>
          <p:cNvPr id="178" name="Google Shape;178;p8"/>
          <p:cNvSpPr txBox="1"/>
          <p:nvPr/>
        </p:nvSpPr>
        <p:spPr>
          <a:xfrm>
            <a:off x="1" y="3849806"/>
            <a:ext cx="121920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1, semanas 3 a 6: Planificación y diseño.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2, semanas 7 a 11: Desarrollo app 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3, semanas 12 a 15: Desarrollo app web.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4, semanas 16 y 17: Documentación y entrega.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246" y="2153775"/>
            <a:ext cx="3141400" cy="136635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0" y="736642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proyecto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9" title="arquitectura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3275" y="1625975"/>
            <a:ext cx="9506400" cy="523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9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g3aa268c7084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aa268c7084_0_50"/>
          <p:cNvSpPr txBox="1"/>
          <p:nvPr/>
        </p:nvSpPr>
        <p:spPr>
          <a:xfrm>
            <a:off x="0" y="110028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</a:t>
            </a: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del proyecto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aa268c7084_0_50"/>
          <p:cNvSpPr txBox="1"/>
          <p:nvPr/>
        </p:nvSpPr>
        <p:spPr>
          <a:xfrm>
            <a:off x="0" y="5224305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Amazon, Google, Serverless, Angular, React Native Expo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g3aa268c7084_0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9150" y="1972212"/>
            <a:ext cx="1981200" cy="136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aa268c7084_0_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0350" y="3553787"/>
            <a:ext cx="1800000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aa268c7084_0_50"/>
          <p:cNvPicPr preferRelativeResize="0"/>
          <p:nvPr/>
        </p:nvPicPr>
        <p:blipFill rotWithShape="1">
          <a:blip r:embed="rId6">
            <a:alphaModFix/>
          </a:blip>
          <a:srcRect b="3975" l="1613" r="0" t="0"/>
          <a:stretch/>
        </p:blipFill>
        <p:spPr>
          <a:xfrm>
            <a:off x="5210925" y="2059900"/>
            <a:ext cx="1416700" cy="103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aa268c7084_0_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98825" y="1907075"/>
            <a:ext cx="1741575" cy="17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3aa268c7084_0_50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201" name="Google Shape;201;g3aa268c7084_0_50" title="WhatsApp Image 2025-11-27 at 19.44.06.jpe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10925" y="3723024"/>
            <a:ext cx="4038400" cy="12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 txBox="1"/>
          <p:nvPr/>
        </p:nvSpPr>
        <p:spPr>
          <a:xfrm>
            <a:off x="0" y="9929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pic>
        <p:nvPicPr>
          <p:cNvPr id="208" name="Google Shape;208;p10" title="db_monitoreo_denuncias-bg-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27979" y="1429227"/>
            <a:ext cx="3730202" cy="2597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210" name="Google Shape;210;p10" title="tabla_denuncia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791805"/>
            <a:ext cx="2495550" cy="461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0" title="tabla_estados_denunci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05125" y="1791805"/>
            <a:ext cx="17335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0" title="tabla_evidencia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7575" y="2845426"/>
            <a:ext cx="1990725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0" title="tabla_requerimientos.png"/>
          <p:cNvPicPr preferRelativeResize="0"/>
          <p:nvPr/>
        </p:nvPicPr>
        <p:blipFill rotWithShape="1">
          <a:blip r:embed="rId8">
            <a:alphaModFix/>
          </a:blip>
          <a:srcRect b="1678" l="0" r="0" t="5072"/>
          <a:stretch/>
        </p:blipFill>
        <p:spPr>
          <a:xfrm>
            <a:off x="2905125" y="4441975"/>
            <a:ext cx="2486025" cy="21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0" title="tabla_users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57825" y="1959601"/>
            <a:ext cx="1866900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9" name="Google Shape;2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1"/>
          <p:cNvSpPr txBox="1"/>
          <p:nvPr/>
        </p:nvSpPr>
        <p:spPr>
          <a:xfrm>
            <a:off x="-127675" y="4803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del Proyecto</a:t>
            </a:r>
            <a:endParaRPr/>
          </a:p>
        </p:txBody>
      </p:sp>
      <p:sp>
        <p:nvSpPr>
          <p:cNvPr id="221" name="Google Shape;221;p11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454450" y="1256725"/>
            <a:ext cx="11459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de denuncias ciudadanas: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 para los vecinos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●"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Plataforma web para los funcionarios municipales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1300" y="3956050"/>
            <a:ext cx="4670194" cy="230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8525" y="3695377"/>
            <a:ext cx="1616250" cy="2830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  <p:pic>
        <p:nvPicPr>
          <p:cNvPr id="231" name="Google Shape;231;p12" title="demo_app_movil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4925" y="1172075"/>
            <a:ext cx="2947950" cy="52670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2" title="Gestor de Denuncias Ciudadanas San Bernardo - Google Chrome 2025-11-27 18-50-41.mp4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99100" y="1597274"/>
            <a:ext cx="5888975" cy="441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/>
          </a:p>
        </p:txBody>
      </p:sp>
      <p:sp>
        <p:nvSpPr>
          <p:cNvPr id="239" name="Google Shape;239;p13"/>
          <p:cNvSpPr txBox="1"/>
          <p:nvPr/>
        </p:nvSpPr>
        <p:spPr>
          <a:xfrm>
            <a:off x="1442928" y="2406976"/>
            <a:ext cx="96663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CL" sz="3200">
                <a:solidFill>
                  <a:schemeClr val="dk1"/>
                </a:solidFill>
              </a:rPr>
              <a:t>Se logra el objetivo principal en el tiempo requerido: la comunicación de los vecinos con el municipio.</a:t>
            </a:r>
            <a:endParaRPr sz="3200">
              <a:solidFill>
                <a:schemeClr val="dk1"/>
              </a:solidFill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s-CL" sz="3200">
                <a:solidFill>
                  <a:schemeClr val="dk1"/>
                </a:solidFill>
              </a:rPr>
              <a:t>Los resultados del proyecto tendrán un impacto positivo en la calidad de vida de los vecinos.</a:t>
            </a:r>
            <a:endParaRPr sz="32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s-CL" sz="3200">
                <a:solidFill>
                  <a:schemeClr val="dk1"/>
                </a:solidFill>
              </a:rPr>
              <a:t>Este MVP, nos da la oportunidad para futuras fases de desarrollo y mejoras continuas del producto.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6" name="Google Shape;2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4"/>
          <p:cNvSpPr txBox="1"/>
          <p:nvPr/>
        </p:nvSpPr>
        <p:spPr>
          <a:xfrm>
            <a:off x="1" y="720918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Reflexión</a:t>
            </a:r>
            <a:endParaRPr/>
          </a:p>
        </p:txBody>
      </p:sp>
      <p:grpSp>
        <p:nvGrpSpPr>
          <p:cNvPr id="248" name="Google Shape;248;p14"/>
          <p:cNvGrpSpPr/>
          <p:nvPr/>
        </p:nvGrpSpPr>
        <p:grpSpPr>
          <a:xfrm>
            <a:off x="917423" y="2301218"/>
            <a:ext cx="10357153" cy="3265713"/>
            <a:chOff x="-1" y="0"/>
            <a:chExt cx="10357153" cy="3265713"/>
          </a:xfrm>
        </p:grpSpPr>
        <p:sp>
          <p:nvSpPr>
            <p:cNvPr id="249" name="Google Shape;249;p14"/>
            <p:cNvSpPr/>
            <p:nvPr/>
          </p:nvSpPr>
          <p:spPr>
            <a:xfrm rot="-5400000">
              <a:off x="1772859" y="-1772859"/>
              <a:ext cx="1632856" cy="5178576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 txBox="1"/>
            <p:nvPr/>
          </p:nvSpPr>
          <p:spPr>
            <a:xfrm>
              <a:off x="-1" y="1"/>
              <a:ext cx="5178576" cy="1224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Perfil de egreso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5178576" y="0"/>
              <a:ext cx="5178576" cy="1632856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 txBox="1"/>
            <p:nvPr/>
          </p:nvSpPr>
          <p:spPr>
            <a:xfrm>
              <a:off x="5178576" y="0"/>
              <a:ext cx="5178576" cy="1224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t/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875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Intereses profesionales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4"/>
            <p:cNvSpPr/>
            <p:nvPr/>
          </p:nvSpPr>
          <p:spPr>
            <a:xfrm rot="10800000">
              <a:off x="0" y="1632856"/>
              <a:ext cx="5178576" cy="1632856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 txBox="1"/>
            <p:nvPr/>
          </p:nvSpPr>
          <p:spPr>
            <a:xfrm>
              <a:off x="0" y="2041070"/>
              <a:ext cx="5178576" cy="1224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</a:t>
              </a: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bstáculos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4"/>
            <p:cNvSpPr/>
            <p:nvPr/>
          </p:nvSpPr>
          <p:spPr>
            <a:xfrm rot="5400000">
              <a:off x="6951435" y="-140003"/>
              <a:ext cx="1632856" cy="5178576"/>
            </a:xfrm>
            <a:prstGeom prst="round1Rect">
              <a:avLst>
                <a:gd fmla="val 16667" name="adj"/>
              </a:avLst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 txBox="1"/>
            <p:nvPr/>
          </p:nvSpPr>
          <p:spPr>
            <a:xfrm>
              <a:off x="5178575" y="2041070"/>
              <a:ext cx="5178576" cy="12246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800" lIns="177800" spcFirstLastPara="1" rIns="177800" wrap="square" tIns="177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Aporte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3625003" y="1224642"/>
              <a:ext cx="3107145" cy="816428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FEE0B3"/>
                </a:gs>
                <a:gs pos="50000">
                  <a:srgbClr val="FFDBA2"/>
                </a:gs>
                <a:gs pos="100000">
                  <a:srgbClr val="E3C287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 txBox="1"/>
            <p:nvPr/>
          </p:nvSpPr>
          <p:spPr>
            <a:xfrm>
              <a:off x="3664858" y="1264497"/>
              <a:ext cx="3027435" cy="736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00"/>
                <a:buFont typeface="Calibri"/>
                <a:buNone/>
              </a:pPr>
              <a:r>
                <a:rPr lang="es-CL" sz="25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Reflexión</a:t>
              </a:r>
              <a:endParaRPr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14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64" name="Google Shape;2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5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  <p:sp>
        <p:nvSpPr>
          <p:cNvPr id="266" name="Google Shape;266;p15"/>
          <p:cNvSpPr txBox="1"/>
          <p:nvPr>
            <p:ph idx="11" type="ftr"/>
          </p:nvPr>
        </p:nvSpPr>
        <p:spPr>
          <a:xfrm>
            <a:off x="3943027" y="3228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72" name="Google Shape;2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 txBox="1"/>
          <p:nvPr/>
        </p:nvSpPr>
        <p:spPr>
          <a:xfrm>
            <a:off x="0" y="3044279"/>
            <a:ext cx="12191999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ANEXOS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5156791" y="4805916"/>
            <a:ext cx="29594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Opcionales a tu presentación </a:t>
            </a:r>
            <a:endParaRPr/>
          </a:p>
        </p:txBody>
      </p:sp>
      <p:sp>
        <p:nvSpPr>
          <p:cNvPr id="275" name="Google Shape;275;p16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80" name="Google Shape;2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7"/>
          <p:cNvSpPr txBox="1"/>
          <p:nvPr/>
        </p:nvSpPr>
        <p:spPr>
          <a:xfrm>
            <a:off x="3850938" y="135056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8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292" name="Google Shape;292;p18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8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8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8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Nombre de estudiante</a:t>
              </a:r>
              <a:endParaRPr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Cargo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8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>
            <p:ph idx="11" type="ftr"/>
          </p:nvPr>
        </p:nvSpPr>
        <p:spPr>
          <a:xfrm>
            <a:off x="3695382" y="334066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“NOMBRE DEL PROYECTO”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07" name="Google Shape;3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0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Requerimientos </a:t>
            </a:r>
            <a:endParaRPr/>
          </a:p>
        </p:txBody>
      </p:sp>
      <p:sp>
        <p:nvSpPr>
          <p:cNvPr id="309" name="Google Shape;309;p20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14" name="Google Shape;3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9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Artefactos</a:t>
            </a:r>
            <a:endParaRPr/>
          </a:p>
        </p:txBody>
      </p:sp>
      <p:sp>
        <p:nvSpPr>
          <p:cNvPr id="316" name="Google Shape;316;p19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21" name="Google Shape;3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1"/>
          <p:cNvSpPr txBox="1"/>
          <p:nvPr/>
        </p:nvSpPr>
        <p:spPr>
          <a:xfrm>
            <a:off x="0" y="1432655"/>
            <a:ext cx="1219199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 del software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*Presentar esquema</a:t>
            </a:r>
            <a:endParaRPr/>
          </a:p>
        </p:txBody>
      </p:sp>
      <p:sp>
        <p:nvSpPr>
          <p:cNvPr id="323" name="Google Shape;323;p21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28" name="Google Shape;32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“NOMBRE DEL PROYECTO”</a:t>
            </a:r>
            <a:endParaRPr/>
          </a:p>
        </p:txBody>
      </p:sp>
      <p:sp>
        <p:nvSpPr>
          <p:cNvPr id="330" name="Google Shape;330;p22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/>
          </a:p>
        </p:txBody>
      </p:sp>
      <p:cxnSp>
        <p:nvCxnSpPr>
          <p:cNvPr id="331" name="Google Shape;331;p2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2" name="Google Shape;332;p22"/>
          <p:cNvSpPr txBox="1"/>
          <p:nvPr>
            <p:ph idx="11" type="ftr"/>
          </p:nvPr>
        </p:nvSpPr>
        <p:spPr>
          <a:xfrm>
            <a:off x="3790627" y="170482"/>
            <a:ext cx="41148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“CUIDA TU BARRIO”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/>
        </p:nvSpPr>
        <p:spPr>
          <a:xfrm>
            <a:off x="3847521" y="3030942"/>
            <a:ext cx="8049408" cy="39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666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PRIVACIDAD Y SEGURIDAD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42" name="Google Shape;3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4"/>
          <p:cNvSpPr txBox="1"/>
          <p:nvPr/>
        </p:nvSpPr>
        <p:spPr>
          <a:xfrm>
            <a:off x="1809427" y="1825079"/>
            <a:ext cx="1219199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9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INNOVACIÓN, </a:t>
            </a:r>
            <a:endParaRPr/>
          </a:p>
          <a:p>
            <a:pPr indent="0" lvl="0" marL="0" marR="0" rtl="0" algn="l">
              <a:lnSpc>
                <a:spcPct val="109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FACTIBILIDAD Y VIABILIDAD</a:t>
            </a:r>
            <a:endParaRPr/>
          </a:p>
        </p:txBody>
      </p:sp>
      <p:sp>
        <p:nvSpPr>
          <p:cNvPr id="344" name="Google Shape;344;p24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“NOMBRE DEL PROYECTO”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49" name="Google Shape;34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  <p:sp>
        <p:nvSpPr>
          <p:cNvPr id="351" name="Google Shape;351;p25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“NOMBRE DEL PROYECTO”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356" name="Google Shape;35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6"/>
          <p:cNvSpPr txBox="1"/>
          <p:nvPr/>
        </p:nvSpPr>
        <p:spPr>
          <a:xfrm>
            <a:off x="1809427" y="1825079"/>
            <a:ext cx="1219199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9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400">
                <a:solidFill>
                  <a:srgbClr val="252525"/>
                </a:solidFill>
                <a:latin typeface="Arial"/>
                <a:ea typeface="Arial"/>
                <a:cs typeface="Arial"/>
                <a:sym typeface="Arial"/>
              </a:rPr>
              <a:t>APORTES Y BENEFICIOS</a:t>
            </a:r>
            <a:endParaRPr/>
          </a:p>
          <a:p>
            <a:pPr indent="0" lvl="0" marL="0" marR="0" rtl="0" algn="l">
              <a:lnSpc>
                <a:spcPct val="1090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25252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6"/>
          <p:cNvSpPr txBox="1"/>
          <p:nvPr>
            <p:ph idx="11" type="ftr"/>
          </p:nvPr>
        </p:nvSpPr>
        <p:spPr>
          <a:xfrm>
            <a:off x="3790627" y="170482"/>
            <a:ext cx="4114800" cy="309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PROYECTO “NOMBRE DEL PROYECTO”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/>
        </p:nvSpPr>
        <p:spPr>
          <a:xfrm>
            <a:off x="1102133" y="1066567"/>
            <a:ext cx="7425583" cy="646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001D54"/>
                </a:solidFill>
                <a:latin typeface="Arial"/>
                <a:ea typeface="Arial"/>
                <a:cs typeface="Arial"/>
                <a:sym typeface="Arial"/>
              </a:rPr>
              <a:t>Modelo de Sustentabilidad</a:t>
            </a:r>
            <a:endParaRPr b="1" sz="3200">
              <a:solidFill>
                <a:srgbClr val="001D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609600" y="1803400"/>
            <a:ext cx="9550400" cy="217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67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(Favor elimine este texto al desarrollar su presentación)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67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lang="es-CL" sz="16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Explicar cómo el proyecto puede mantenerse en el tiempo. Ejemplos: continuidad en la empresa, apoyo institucional, comunidad activa, escalabilidad futura. El mensaje clave es demostrar que el proyecto no termina con el curso, sino que tiene proyección.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br>
              <a:rPr lang="es-CL" sz="16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CL" sz="16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CL" sz="16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DURACIÓN: 1 MINUTO</a:t>
            </a:r>
            <a:endParaRPr b="1" i="1" sz="1667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 txBox="1"/>
          <p:nvPr/>
        </p:nvSpPr>
        <p:spPr>
          <a:xfrm>
            <a:off x="813375" y="934220"/>
            <a:ext cx="7425583" cy="6469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48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001D54"/>
                </a:solidFill>
                <a:latin typeface="Arial"/>
                <a:ea typeface="Arial"/>
                <a:cs typeface="Arial"/>
                <a:sym typeface="Arial"/>
              </a:rPr>
              <a:t>Modelo de Negocio</a:t>
            </a:r>
            <a:endParaRPr b="1" sz="3200">
              <a:solidFill>
                <a:srgbClr val="001D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609600" y="1803400"/>
            <a:ext cx="9550400" cy="1918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867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(Favor elimine este texto al desarrollar su presentación)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67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NOTA: </a:t>
            </a:r>
            <a:r>
              <a:rPr lang="es-CL" sz="16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Responder de manera simple:¿Qué es el proyecto y cómo se diferencia?¿Para quién está hecho?¿Cómo entrega valor?¿Qué costos/ahorros/generación de valor produce? Puede apoyarse en un mini esquema de modelo Canvas simplificado.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667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DURACIÓN: 1 MINUTO APROX.</a:t>
            </a:r>
            <a:endParaRPr i="1" sz="16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0x01010015ED6F46882F47419E8EA90B7B52D56C</vt:lpwstr>
  </property>
  <property fmtid="{D5CDD505-2E9C-101B-9397-08002B2CF9AE}" pid="3" name="MediaServiceImageTags">
    <vt:lpwstr/>
  </property>
</Properties>
</file>